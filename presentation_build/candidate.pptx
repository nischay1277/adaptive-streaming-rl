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37683e29a4eb2" /><Relationship Type="http://schemas.openxmlformats.org/officeDocument/2006/relationships/extended-properties" Target="/docProps/app.xml" Id="R11eef9339ad04e0f" /><Relationship Type="http://schemas.openxmlformats.org/officeDocument/2006/relationships/officeDocument" Target="/ppt/presentation.xml" Id="R48fa79b5002a4f5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7176780059249d0"/>
  </p:sldMasterIdLst>
  <p:notesMasterIdLst>
    <p:notesMasterId xmlns:r="http://schemas.openxmlformats.org/officeDocument/2006/relationships" r:id="R0ea753ee629e44c1"/>
  </p:notesMasterIdLst>
  <p:sldIdLst>
    <p:sldId xmlns:r="http://schemas.openxmlformats.org/officeDocument/2006/relationships" id="256" r:id="R6b174499b71745e9"/>
    <p:sldId xmlns:r="http://schemas.openxmlformats.org/officeDocument/2006/relationships" id="257" r:id="R723a71a5089641d4"/>
    <p:sldId xmlns:r="http://schemas.openxmlformats.org/officeDocument/2006/relationships" id="258" r:id="Rf0ef05c6048f4ffe"/>
    <p:sldId xmlns:r="http://schemas.openxmlformats.org/officeDocument/2006/relationships" id="259" r:id="R35d26f3ea81f48c5"/>
    <p:sldId xmlns:r="http://schemas.openxmlformats.org/officeDocument/2006/relationships" id="260" r:id="R3b18c9567354413e"/>
    <p:sldId xmlns:r="http://schemas.openxmlformats.org/officeDocument/2006/relationships" id="261" r:id="R3896fd3539464e3b"/>
    <p:sldId xmlns:r="http://schemas.openxmlformats.org/officeDocument/2006/relationships" id="262" r:id="R3cd62ceef3c84311"/>
    <p:sldId xmlns:r="http://schemas.openxmlformats.org/officeDocument/2006/relationships" id="263" r:id="R92cbc2b0636145fb"/>
    <p:sldId xmlns:r="http://schemas.openxmlformats.org/officeDocument/2006/relationships" id="264" r:id="R4b783c4f031043a8"/>
    <p:sldId xmlns:r="http://schemas.openxmlformats.org/officeDocument/2006/relationships" id="265" r:id="R2a92fa6fda8f4711"/>
  </p:sldIdLst>
  <p:sldSz cx="9144000" cy="5143500"/>
  <p:notesSz cx="6858000" cy="9144000"/>
  <p:embeddedFontLst>
    <p:embeddedFont>
      <p:font typeface="Lato"/>
      <p:regular xmlns:r="http://schemas.openxmlformats.org/officeDocument/2006/relationships" r:id="Rdb616bc6f29147a1"/>
      <p:bold xmlns:r="http://schemas.openxmlformats.org/officeDocument/2006/relationships" r:id="Recb915702944412c"/>
      <p:italic xmlns:r="http://schemas.openxmlformats.org/officeDocument/2006/relationships" r:id="R7b8ecf404a3548c1"/>
      <p:boldItalic xmlns:r="http://schemas.openxmlformats.org/officeDocument/2006/relationships" r:id="R73dddf490c804e21"/>
    </p:embeddedFont>
    <p:embeddedFont>
      <p:font typeface="Montserrat"/>
      <p:regular xmlns:r="http://schemas.openxmlformats.org/officeDocument/2006/relationships" r:id="Rb0b2369f12584795"/>
      <p:bold xmlns:r="http://schemas.openxmlformats.org/officeDocument/2006/relationships" r:id="Rb20d6cfdd918409c"/>
      <p:italic xmlns:r="http://schemas.openxmlformats.org/officeDocument/2006/relationships" r:id="R0a0630f64d8b43a9"/>
      <p:boldItalic xmlns:r="http://schemas.openxmlformats.org/officeDocument/2006/relationships" r:id="R9f33bc4dada149d3"/>
    </p:embeddedFont>
    <p:embeddedFont>
      <p:font typeface="Vidaloka"/>
      <p:regular xmlns:r="http://schemas.openxmlformats.org/officeDocument/2006/relationships" r:id="Re76c6af2c3914808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925D15C9-F2E0-4EDD-8A7B-61C40F314727}">
  <a:tblStyle styleId="{925D15C9-F2E0-4EDD-8A7B-61C40F3147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63af51169d4ebe" /><Relationship Type="http://schemas.openxmlformats.org/officeDocument/2006/relationships/slideMaster" Target="/ppt/slideMasters/slideMaster1.xml" Id="R27176780059249d0" /><Relationship Type="http://schemas.openxmlformats.org/officeDocument/2006/relationships/notesMaster" Target="/ppt/notesMasters/notesMaster1.xml" Id="R0ea753ee629e44c1" /><Relationship Type="http://schemas.openxmlformats.org/officeDocument/2006/relationships/presProps" Target="/ppt/presProps.xml" Id="Re3f516d5ad0c4c4c" /><Relationship Type="http://schemas.openxmlformats.org/officeDocument/2006/relationships/viewProps" Target="/ppt/viewProps.xml" Id="R79c8a75dac7b4ee4" /><Relationship Type="http://schemas.openxmlformats.org/officeDocument/2006/relationships/tableStyles" Target="/ppt/tableStyles.xml" Id="R7be36fd9326e4a37" /><Relationship Type="http://schemas.openxmlformats.org/officeDocument/2006/relationships/font" Target="/ppt/fonts/font.dat" Id="Rdb616bc6f29147a1" /><Relationship Type="http://schemas.openxmlformats.org/officeDocument/2006/relationships/font" Target="/ppt/fonts/font2.dat" Id="Recb915702944412c" /><Relationship Type="http://schemas.openxmlformats.org/officeDocument/2006/relationships/font" Target="/ppt/fonts/font3.dat" Id="R7b8ecf404a3548c1" /><Relationship Type="http://schemas.openxmlformats.org/officeDocument/2006/relationships/font" Target="/ppt/fonts/font4.dat" Id="R73dddf490c804e21" /><Relationship Type="http://schemas.openxmlformats.org/officeDocument/2006/relationships/font" Target="/ppt/fonts/font5.dat" Id="Rb0b2369f12584795" /><Relationship Type="http://schemas.openxmlformats.org/officeDocument/2006/relationships/font" Target="/ppt/fonts/font6.dat" Id="Rb20d6cfdd918409c" /><Relationship Type="http://schemas.openxmlformats.org/officeDocument/2006/relationships/font" Target="/ppt/fonts/font7.dat" Id="R0a0630f64d8b43a9" /><Relationship Type="http://schemas.openxmlformats.org/officeDocument/2006/relationships/font" Target="/ppt/fonts/font8.dat" Id="R9f33bc4dada149d3" /><Relationship Type="http://schemas.openxmlformats.org/officeDocument/2006/relationships/font" Target="/ppt/fonts/font9.dat" Id="Re76c6af2c3914808" /><Relationship Type="http://schemas.openxmlformats.org/officeDocument/2006/relationships/slide" Target="/ppt/slides/slide1.xml" Id="R6b174499b71745e9" /><Relationship Type="http://schemas.openxmlformats.org/officeDocument/2006/relationships/slide" Target="/ppt/slides/slide2.xml" Id="R723a71a5089641d4" /><Relationship Type="http://schemas.openxmlformats.org/officeDocument/2006/relationships/slide" Target="/ppt/slides/slide3.xml" Id="Rf0ef05c6048f4ffe" /><Relationship Type="http://schemas.openxmlformats.org/officeDocument/2006/relationships/slide" Target="/ppt/slides/slide4.xml" Id="R35d26f3ea81f48c5" /><Relationship Type="http://schemas.openxmlformats.org/officeDocument/2006/relationships/slide" Target="/ppt/slides/slide5.xml" Id="R3b18c9567354413e" /><Relationship Type="http://schemas.openxmlformats.org/officeDocument/2006/relationships/slide" Target="/ppt/slides/slide6.xml" Id="R3896fd3539464e3b" /><Relationship Type="http://schemas.openxmlformats.org/officeDocument/2006/relationships/slide" Target="/ppt/slides/slide7.xml" Id="R3cd62ceef3c84311" /><Relationship Type="http://schemas.openxmlformats.org/officeDocument/2006/relationships/slide" Target="/ppt/slides/slide8.xml" Id="R92cbc2b0636145fb" /><Relationship Type="http://schemas.openxmlformats.org/officeDocument/2006/relationships/slide" Target="/ppt/slides/slide9.xml" Id="R4b783c4f031043a8" /><Relationship Type="http://schemas.openxmlformats.org/officeDocument/2006/relationships/slide" Target="/ppt/slides/slide10.xml" Id="R2a92fa6fda8f47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1f2cf3ed68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56a6e93d794f83" /><Relationship Type="http://schemas.openxmlformats.org/officeDocument/2006/relationships/notesMaster" Target="/ppt/notesMasters/notesMaster1.xml" Id="R32cddd17db3e4d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104f8ffba94c64" /><Relationship Type="http://schemas.openxmlformats.org/officeDocument/2006/relationships/notesMaster" Target="/ppt/notesMasters/notesMaster1.xml" Id="Rbde89acedf95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e466ad4a54974" /><Relationship Type="http://schemas.openxmlformats.org/officeDocument/2006/relationships/notesMaster" Target="/ppt/notesMasters/notesMaster1.xml" Id="Rcba351a59488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56e82df894020" /><Relationship Type="http://schemas.openxmlformats.org/officeDocument/2006/relationships/notesMaster" Target="/ppt/notesMasters/notesMaster1.xml" Id="R6c935c2563ee4d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8003f3d734c25" /><Relationship Type="http://schemas.openxmlformats.org/officeDocument/2006/relationships/notesMaster" Target="/ppt/notesMasters/notesMaster1.xml" Id="R02d2a1ac281946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66491702ea4b62" /><Relationship Type="http://schemas.openxmlformats.org/officeDocument/2006/relationships/notesMaster" Target="/ppt/notesMasters/notesMaster1.xml" Id="R6668b791fad547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051ef553624b7e" /><Relationship Type="http://schemas.openxmlformats.org/officeDocument/2006/relationships/notesMaster" Target="/ppt/notesMasters/notesMaster1.xml" Id="R2893ed85240344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9d936a7bbd459e" /><Relationship Type="http://schemas.openxmlformats.org/officeDocument/2006/relationships/notesMaster" Target="/ppt/notesMasters/notesMaster1.xml" Id="Rb06daf4402ec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7c3dba1b324242" /><Relationship Type="http://schemas.openxmlformats.org/officeDocument/2006/relationships/notesMaster" Target="/ppt/notesMasters/notesMaster1.xml" Id="R973b6418b5ed47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8cb99998da46ea" /><Relationship Type="http://schemas.openxmlformats.org/officeDocument/2006/relationships/notesMaster" Target="/ppt/notesMasters/notesMaster1.xml" Id="R52f1817a62f246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758847478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5c18689ba42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2483b9f8b4e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8d34048d54a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b4edb5b4649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4f3296dc046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33b3fd2af496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7FE5B6CB-3679-406B-9243-6F87D563A3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39975" y="1324500"/>
            <a:ext cx="70641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614F027-2CF7-4677-A78C-BA96AA8AB3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40000" y="3377100"/>
            <a:ext cx="7064100" cy="44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cxnSp>
        <p:nvCxn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6520A2A-A4BA-4268-AF82-D3E884259CF5}"/>
              </a:ext>
            </a:extLst>
          </p:cNvPr>
          <p:cNvCxnSpPr/>
          <p:nvPr/>
        </p:nvCxnSpPr>
        <p:spPr>
          <a:xfrm xmlns:a="http://schemas.openxmlformats.org/drawingml/2006/main">
            <a:off x="-72550" y="27410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813170FC-4496-447C-BEB1-87B82BE43381}"/>
              </a:ext>
            </a:extLst>
          </p:cNvPr>
          <p:cNvCxnSpPr/>
          <p:nvPr/>
        </p:nvCxnSpPr>
        <p:spPr>
          <a:xfrm xmlns:a="http://schemas.openxmlformats.org/drawingml/2006/main" flipH="1">
            <a:off x="-257975" y="-72550"/>
            <a:ext cx="3047400" cy="13464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B2FC0D63-0E7D-4E7D-AF19-978AE6699075}"/>
              </a:ext>
            </a:extLst>
          </p:cNvPr>
          <p:cNvCxnSpPr/>
          <p:nvPr/>
        </p:nvCxnSpPr>
        <p:spPr>
          <a:xfrm xmlns:a="http://schemas.openxmlformats.org/drawingml/2006/main">
            <a:off x="-72550" y="487745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90B437E-B370-4506-88E6-B2C4087671ED}"/>
              </a:ext>
            </a:extLst>
          </p:cNvPr>
          <p:cNvCxnSpPr/>
          <p:nvPr/>
        </p:nvCxnSpPr>
        <p:spPr>
          <a:xfrm xmlns:a="http://schemas.openxmlformats.org/drawingml/2006/main" flipH="1">
            <a:off x="6467450" y="3935375"/>
            <a:ext cx="3047400" cy="13464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FEFBE501-3ACB-4286-A124-5DCC78C15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47115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D8889127-B575-43D7-AD5E-F61C5A636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50" y="1272925"/>
            <a:ext cx="7717500" cy="32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FDEAC7E-6AC3-4E79-86CF-39986637EC7A}"/>
              </a:ext>
            </a:extLst>
          </p:cNvPr>
          <p:cNvCxnSpPr/>
          <p:nvPr/>
        </p:nvCxnSpPr>
        <p:spPr>
          <a:xfrm xmlns:a="http://schemas.openxmlformats.org/drawingml/2006/main">
            <a:off x="-72550" y="27410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FA3B400-3DC6-4BEC-925B-02C5255E2BC4}"/>
              </a:ext>
            </a:extLst>
          </p:cNvPr>
          <p:cNvCxnSpPr/>
          <p:nvPr/>
        </p:nvCxnSpPr>
        <p:spPr>
          <a:xfrm xmlns:a="http://schemas.openxmlformats.org/drawingml/2006/main">
            <a:off x="-72550" y="487745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14ED0327-0D4F-4897-A363-60CB8B0E7C98}"/>
              </a:ext>
            </a:extLst>
          </p:cNvPr>
          <p:cNvCxnSpPr/>
          <p:nvPr/>
        </p:nvCxnSpPr>
        <p:spPr>
          <a:xfrm xmlns:a="http://schemas.openxmlformats.org/drawingml/2006/main">
            <a:off x="6884900" y="-113600"/>
            <a:ext cx="2565600" cy="130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3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matchingName="Title and text 2">
  <p:cSld name="CUSTOM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0">
            <a:extLst xmlns:a="http://schemas.openxmlformats.org/drawingml/2006/main">
              <a:ext uri="{FF2B5EF4-FFF2-40B4-BE49-F238E27FC236}">
                <a16:creationId xmlns:a16="http://schemas.microsoft.com/office/drawing/2014/main" id="{69C5CE9F-BD28-407D-9231-E24031BF8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42850" y="1549875"/>
            <a:ext cx="4545000" cy="12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 xmlns:a="http://schemas.openxmlformats.org/drawingml/2006/main">
            <a:endParaRPr/>
          </a:p>
        </p:txBody>
      </p:sp>
      <p:sp>
        <p:nvSpPr>
          <p:cNvPr id="145" name="Google Shape;145;p20">
            <a:extLst xmlns:a="http://schemas.openxmlformats.org/drawingml/2006/main">
              <a:ext uri="{FF2B5EF4-FFF2-40B4-BE49-F238E27FC236}">
                <a16:creationId xmlns:a16="http://schemas.microsoft.com/office/drawing/2014/main" id="{F7DADB4C-7E52-4878-8019-33130A4D48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42850" y="3039213"/>
            <a:ext cx="4545000" cy="55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cxnSp>
        <p:nvCxnSpPr>
          <p:cNvPr id="146" name="Google Shape;146;p20">
            <a:extLst xmlns:a="http://schemas.openxmlformats.org/drawingml/2006/main">
              <a:ext uri="{FF2B5EF4-FFF2-40B4-BE49-F238E27FC236}">
                <a16:creationId xmlns:a16="http://schemas.microsoft.com/office/drawing/2014/main" id="{AEF217CF-6657-4323-A48F-B4346A4F3F90}"/>
              </a:ext>
            </a:extLst>
          </p:cNvPr>
          <p:cNvCxnSpPr/>
          <p:nvPr/>
        </p:nvCxnSpPr>
        <p:spPr>
          <a:xfrm xmlns:a="http://schemas.openxmlformats.org/drawingml/2006/main">
            <a:off x="-72550" y="27410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>
            <a:extLst xmlns:a="http://schemas.openxmlformats.org/drawingml/2006/main">
              <a:ext uri="{FF2B5EF4-FFF2-40B4-BE49-F238E27FC236}">
                <a16:creationId xmlns:a16="http://schemas.microsoft.com/office/drawing/2014/main" id="{A76AD757-549F-4B29-8E11-7D97BEBA2B3A}"/>
              </a:ext>
            </a:extLst>
          </p:cNvPr>
          <p:cNvCxnSpPr/>
          <p:nvPr/>
        </p:nvCxnSpPr>
        <p:spPr>
          <a:xfrm xmlns:a="http://schemas.openxmlformats.org/drawingml/2006/main">
            <a:off x="-72550" y="487745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>
            <a:extLst xmlns:a="http://schemas.openxmlformats.org/drawingml/2006/main">
              <a:ext uri="{FF2B5EF4-FFF2-40B4-BE49-F238E27FC236}">
                <a16:creationId xmlns:a16="http://schemas.microsoft.com/office/drawing/2014/main" id="{02408CDB-3BC1-44B7-B99F-94E36A5E587C}"/>
              </a:ext>
            </a:extLst>
          </p:cNvPr>
          <p:cNvCxnSpPr/>
          <p:nvPr/>
        </p:nvCxnSpPr>
        <p:spPr>
          <a:xfrm xmlns:a="http://schemas.openxmlformats.org/drawingml/2006/main">
            <a:off x="-250225" y="4076450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>
            <a:extLst xmlns:a="http://schemas.openxmlformats.org/drawingml/2006/main">
              <a:ext uri="{FF2B5EF4-FFF2-40B4-BE49-F238E27FC236}">
                <a16:creationId xmlns:a16="http://schemas.microsoft.com/office/drawing/2014/main" id="{9FF94C3C-6094-4EC9-BEF9-881A30261ED9}"/>
              </a:ext>
            </a:extLst>
          </p:cNvPr>
          <p:cNvCxnSpPr/>
          <p:nvPr/>
        </p:nvCxnSpPr>
        <p:spPr>
          <a:xfrm xmlns:a="http://schemas.openxmlformats.org/drawingml/2006/main">
            <a:off x="7441150" y="-48375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E657FC5E-B5B5-48A0-9F9B-47E51F64BB31}"/>
              </a:ext>
            </a:extLst>
          </p:cNvPr>
          <p:cNvCxnSpPr/>
          <p:nvPr/>
        </p:nvCxnSpPr>
        <p:spPr>
          <a:xfrm xmlns:a="http://schemas.openxmlformats.org/drawingml/2006/main" flipH="1">
            <a:off x="7454238" y="4053663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>
            <a:extLst xmlns:a="http://schemas.openxmlformats.org/drawingml/2006/main">
              <a:ext uri="{FF2B5EF4-FFF2-40B4-BE49-F238E27FC236}">
                <a16:creationId xmlns:a16="http://schemas.microsoft.com/office/drawing/2014/main" id="{BBF34EAE-76B9-4781-A6B6-8095DA67B197}"/>
              </a:ext>
            </a:extLst>
          </p:cNvPr>
          <p:cNvCxnSpPr/>
          <p:nvPr/>
        </p:nvCxnSpPr>
        <p:spPr>
          <a:xfrm xmlns:a="http://schemas.openxmlformats.org/drawingml/2006/main" flipH="1">
            <a:off x="-237137" y="-71162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5.xml><?xml version="1.0" encoding="utf-8"?>
<p:sldLayout xmlns:p="http://schemas.openxmlformats.org/presentationml/2006/main" matchingName="Background">
  <p:cSld name="CUSTOM_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6" name="Google Shape;456;p51">
            <a:extLst xmlns:a="http://schemas.openxmlformats.org/drawingml/2006/main">
              <a:ext uri="{FF2B5EF4-FFF2-40B4-BE49-F238E27FC236}">
                <a16:creationId xmlns:a16="http://schemas.microsoft.com/office/drawing/2014/main" id="{A4E02C2C-A364-4D08-8112-8AA553442340}"/>
              </a:ext>
            </a:extLst>
          </p:cNvPr>
          <p:cNvCxnSpPr/>
          <p:nvPr/>
        </p:nvCxnSpPr>
        <p:spPr>
          <a:xfrm xmlns:a="http://schemas.openxmlformats.org/drawingml/2006/main">
            <a:off x="-72550" y="487745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>
            <a:extLst xmlns:a="http://schemas.openxmlformats.org/drawingml/2006/main">
              <a:ext uri="{FF2B5EF4-FFF2-40B4-BE49-F238E27FC236}">
                <a16:creationId xmlns:a16="http://schemas.microsoft.com/office/drawing/2014/main" id="{E4CE6E53-9ADE-4F88-8C87-8FAF6481226C}"/>
              </a:ext>
            </a:extLst>
          </p:cNvPr>
          <p:cNvCxnSpPr/>
          <p:nvPr/>
        </p:nvCxnSpPr>
        <p:spPr>
          <a:xfrm xmlns:a="http://schemas.openxmlformats.org/drawingml/2006/main">
            <a:off x="-72550" y="27410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matchingName="Background 2">
  <p:cSld name="CUSTOM_10_1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4" name="Google Shape;464;p53">
            <a:extLst xmlns:a="http://schemas.openxmlformats.org/drawingml/2006/main">
              <a:ext uri="{FF2B5EF4-FFF2-40B4-BE49-F238E27FC236}">
                <a16:creationId xmlns:a16="http://schemas.microsoft.com/office/drawing/2014/main" id="{4B39ABE6-0444-4563-B357-01068863E718}"/>
              </a:ext>
            </a:extLst>
          </p:cNvPr>
          <p:cNvCxnSpPr/>
          <p:nvPr/>
        </p:nvCxnSpPr>
        <p:spPr>
          <a:xfrm xmlns:a="http://schemas.openxmlformats.org/drawingml/2006/main">
            <a:off x="-72550" y="487745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>
            <a:extLst xmlns:a="http://schemas.openxmlformats.org/drawingml/2006/main">
              <a:ext uri="{FF2B5EF4-FFF2-40B4-BE49-F238E27FC236}">
                <a16:creationId xmlns:a16="http://schemas.microsoft.com/office/drawing/2014/main" id="{23F86116-A351-4F2D-BAA1-012EDE9AEC06}"/>
              </a:ext>
            </a:extLst>
          </p:cNvPr>
          <p:cNvCxnSpPr/>
          <p:nvPr/>
        </p:nvCxnSpPr>
        <p:spPr>
          <a:xfrm xmlns:a="http://schemas.openxmlformats.org/drawingml/2006/main">
            <a:off x="-72550" y="27410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>
            <a:extLst xmlns:a="http://schemas.openxmlformats.org/drawingml/2006/main">
              <a:ext uri="{FF2B5EF4-FFF2-40B4-BE49-F238E27FC236}">
                <a16:creationId xmlns:a16="http://schemas.microsoft.com/office/drawing/2014/main" id="{FBA7ADC0-3B96-418C-AD06-8B1657FC89EC}"/>
              </a:ext>
            </a:extLst>
          </p:cNvPr>
          <p:cNvCxnSpPr/>
          <p:nvPr/>
        </p:nvCxnSpPr>
        <p:spPr>
          <a:xfrm xmlns:a="http://schemas.openxmlformats.org/drawingml/2006/main" flipH="1">
            <a:off x="6772150" y="3663450"/>
            <a:ext cx="2823300" cy="1633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7.xml><?xml version="1.0" encoding="utf-8"?>
<p:sldLayout xmlns:p="http://schemas.openxmlformats.org/presentationml/2006/main" matchingName="Background 3">
  <p:cSld name="CUSTOM_3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8" name="Google Shape;468;p54">
            <a:extLst xmlns:a="http://schemas.openxmlformats.org/drawingml/2006/main">
              <a:ext uri="{FF2B5EF4-FFF2-40B4-BE49-F238E27FC236}">
                <a16:creationId xmlns:a16="http://schemas.microsoft.com/office/drawing/2014/main" id="{B83B5754-78B4-42C2-BD0F-84DB39EB1734}"/>
              </a:ext>
            </a:extLst>
          </p:cNvPr>
          <p:cNvCxnSpPr/>
          <p:nvPr/>
        </p:nvCxnSpPr>
        <p:spPr>
          <a:xfrm xmlns:a="http://schemas.openxmlformats.org/drawingml/2006/main">
            <a:off x="-72550" y="27410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>
            <a:extLst xmlns:a="http://schemas.openxmlformats.org/drawingml/2006/main">
              <a:ext uri="{FF2B5EF4-FFF2-40B4-BE49-F238E27FC236}">
                <a16:creationId xmlns:a16="http://schemas.microsoft.com/office/drawing/2014/main" id="{0AC4A261-59D1-4C8C-B54E-BE1B8892FC1E}"/>
              </a:ext>
            </a:extLst>
          </p:cNvPr>
          <p:cNvCxnSpPr/>
          <p:nvPr/>
        </p:nvCxnSpPr>
        <p:spPr>
          <a:xfrm xmlns:a="http://schemas.openxmlformats.org/drawingml/2006/main">
            <a:off x="-72550" y="4877450"/>
            <a:ext cx="9287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>
            <a:extLst xmlns:a="http://schemas.openxmlformats.org/drawingml/2006/main">
              <a:ext uri="{FF2B5EF4-FFF2-40B4-BE49-F238E27FC236}">
                <a16:creationId xmlns:a16="http://schemas.microsoft.com/office/drawing/2014/main" id="{2CFBBC02-A1B8-46F0-A57B-FD284DF24D70}"/>
              </a:ext>
            </a:extLst>
          </p:cNvPr>
          <p:cNvCxnSpPr/>
          <p:nvPr/>
        </p:nvCxnSpPr>
        <p:spPr>
          <a:xfrm xmlns:a="http://schemas.openxmlformats.org/drawingml/2006/main">
            <a:off x="-250225" y="4076450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>
            <a:extLst xmlns:a="http://schemas.openxmlformats.org/drawingml/2006/main">
              <a:ext uri="{FF2B5EF4-FFF2-40B4-BE49-F238E27FC236}">
                <a16:creationId xmlns:a16="http://schemas.microsoft.com/office/drawing/2014/main" id="{1CC85298-AADD-4B78-ABA2-583F774C0774}"/>
              </a:ext>
            </a:extLst>
          </p:cNvPr>
          <p:cNvCxnSpPr/>
          <p:nvPr/>
        </p:nvCxnSpPr>
        <p:spPr>
          <a:xfrm xmlns:a="http://schemas.openxmlformats.org/drawingml/2006/main">
            <a:off x="7441150" y="-48375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>
            <a:extLst xmlns:a="http://schemas.openxmlformats.org/drawingml/2006/main">
              <a:ext uri="{FF2B5EF4-FFF2-40B4-BE49-F238E27FC236}">
                <a16:creationId xmlns:a16="http://schemas.microsoft.com/office/drawing/2014/main" id="{8230C44D-EAB7-4D7E-B5CB-F659DC2CA8E1}"/>
              </a:ext>
            </a:extLst>
          </p:cNvPr>
          <p:cNvCxnSpPr/>
          <p:nvPr/>
        </p:nvCxnSpPr>
        <p:spPr>
          <a:xfrm xmlns:a="http://schemas.openxmlformats.org/drawingml/2006/main" flipH="1">
            <a:off x="7454238" y="4053663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>
            <a:extLst xmlns:a="http://schemas.openxmlformats.org/drawingml/2006/main">
              <a:ext uri="{FF2B5EF4-FFF2-40B4-BE49-F238E27FC236}">
                <a16:creationId xmlns:a16="http://schemas.microsoft.com/office/drawing/2014/main" id="{8547FF37-C824-4C57-A72D-1255BF3481B0}"/>
              </a:ext>
            </a:extLst>
          </p:cNvPr>
          <p:cNvCxnSpPr/>
          <p:nvPr/>
        </p:nvCxnSpPr>
        <p:spPr>
          <a:xfrm xmlns:a="http://schemas.openxmlformats.org/drawingml/2006/main" flipH="1">
            <a:off x="-237137" y="-71162"/>
            <a:ext cx="1926900" cy="116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4267d20414370" /><Relationship Type="http://schemas.openxmlformats.org/officeDocument/2006/relationships/slideLayout" Target="/ppt/slideLayouts/slideLayout1.xml" Id="R0b8fef6ad9b04575" /><Relationship Type="http://schemas.openxmlformats.org/officeDocument/2006/relationships/slideLayout" Target="/ppt/slideLayouts/slideLayout2.xml" Id="R2ba4d1eb17c84c16" /><Relationship Type="http://schemas.openxmlformats.org/officeDocument/2006/relationships/slideLayout" Target="/ppt/slideLayouts/slideLayout3.xml" Id="Ra67aa1dac33b450b" /><Relationship Type="http://schemas.openxmlformats.org/officeDocument/2006/relationships/slideLayout" Target="/ppt/slideLayouts/slideLayout4.xml" Id="R1a578e0ad6e742e7" /><Relationship Type="http://schemas.openxmlformats.org/officeDocument/2006/relationships/slideLayout" Target="/ppt/slideLayouts/slideLayout5.xml" Id="R40d36bc845f240b4" /><Relationship Type="http://schemas.openxmlformats.org/officeDocument/2006/relationships/slideLayout" Target="/ppt/slideLayouts/slideLayout6.xml" Id="R234d314c25334f30" /><Relationship Type="http://schemas.openxmlformats.org/officeDocument/2006/relationships/slideLayout" Target="/ppt/slideLayouts/slideLayout7.xml" Id="R88b06eb3c0584af1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8D89FFC-C6F2-40EF-8AC9-AB087553E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A8C0253-0F42-4DAB-94ED-59BF71F071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50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8fef6ad9b04575"/>
    <p:sldLayoutId xmlns:r="http://schemas.openxmlformats.org/officeDocument/2006/relationships" id="2147483650" r:id="R2ba4d1eb17c84c16"/>
    <p:sldLayoutId xmlns:r="http://schemas.openxmlformats.org/officeDocument/2006/relationships" id="2147483651" r:id="Ra67aa1dac33b450b"/>
    <p:sldLayoutId xmlns:r="http://schemas.openxmlformats.org/officeDocument/2006/relationships" id="2147483652" r:id="R1a578e0ad6e742e7"/>
    <p:sldLayoutId xmlns:r="http://schemas.openxmlformats.org/officeDocument/2006/relationships" id="2147483653" r:id="R40d36bc845f240b4"/>
    <p:sldLayoutId xmlns:r="http://schemas.openxmlformats.org/officeDocument/2006/relationships" id="2147483654" r:id="R234d314c25334f30"/>
    <p:sldLayoutId xmlns:r="http://schemas.openxmlformats.org/officeDocument/2006/relationships" id="2147483655" r:id="R88b06eb3c0584a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42f97cfae45ed" /><Relationship Type="http://schemas.openxmlformats.org/officeDocument/2006/relationships/notesSlide" Target="/ppt/notesSlides/notesSlide1.xml" Id="Ra2aff6f428ed48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efcc27bac4d24" /><Relationship Type="http://schemas.openxmlformats.org/officeDocument/2006/relationships/notesSlide" Target="/ppt/notesSlides/notesSlide2.xml" Id="Rf9b7efab757a4a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a5291f11c444f" /><Relationship Type="http://schemas.openxmlformats.org/officeDocument/2006/relationships/notesSlide" Target="/ppt/notesSlides/notesSlide3.xml" Id="R1a2b9d14ea94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e7d286921486e" /><Relationship Type="http://schemas.openxmlformats.org/officeDocument/2006/relationships/notesSlide" Target="/ppt/notesSlides/notesSlide4.xml" Id="Rc390b03ebcee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9b28237cbb4257" /><Relationship Type="http://schemas.openxmlformats.org/officeDocument/2006/relationships/notesSlide" Target="/ppt/notesSlides/notesSlide5.xml" Id="R30afa413119848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e4d861fe574a7d" /><Relationship Type="http://schemas.openxmlformats.org/officeDocument/2006/relationships/notesSlide" Target="/ppt/notesSlides/notesSlide6.xml" Id="R1ff77fb7aa3a4a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0fa8ea780478d" /><Relationship Type="http://schemas.openxmlformats.org/officeDocument/2006/relationships/notesSlide" Target="/ppt/notesSlides/notesSlide7.xml" Id="R76108a5fafea4c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562a43160c42d3" /><Relationship Type="http://schemas.openxmlformats.org/officeDocument/2006/relationships/notesSlide" Target="/ppt/notesSlides/notesSlide8.xml" Id="Rf6c0d6c63c55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ae4fd2dd24369" /><Relationship Type="http://schemas.openxmlformats.org/officeDocument/2006/relationships/notesSlide" Target="/ppt/notesSlides/notesSlide9.xml" Id="Rd360eedae38942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5aa1d393464691" /><Relationship Type="http://schemas.openxmlformats.org/officeDocument/2006/relationships/notesSlide" Target="/ppt/notesSlides/notesSlide10.xml" Id="R4be67850763d4e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Google Shape;488;p60">
            <a:extLst xmlns:a="http://schemas.openxmlformats.org/drawingml/2006/main">
              <a:ext uri="{FF2B5EF4-FFF2-40B4-BE49-F238E27FC236}">
                <a16:creationId xmlns:a16="http://schemas.microsoft.com/office/drawing/2014/main" id="{AB7F6970-7635-46BC-AE3F-D7541986927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847492"/>
            <a:ext cx="9144000" cy="1013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Adaptive Video Streaming with Reinforcement Learning</a:t>
            </a:r>
            <a:endParaRPr sz="2800"/>
          </a:p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Project Review</a:t>
            </a:r>
          </a:p>
        </p:txBody>
      </p:sp>
      <p:sp>
        <p:nvSpPr>
          <p:cNvPr id="489" name="Google Shape;489;p60">
            <a:extLst xmlns:a="http://schemas.openxmlformats.org/drawingml/2006/main">
              <a:ext uri="{FF2B5EF4-FFF2-40B4-BE49-F238E27FC236}">
                <a16:creationId xmlns:a16="http://schemas.microsoft.com/office/drawing/2014/main" id="{B6BF8EE3-A42A-47A4-82E6-520D008B18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39950" y="2224600"/>
            <a:ext cx="7064100" cy="24438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WORKFLOW OVERVIEW — FIVE STEPS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1. Encode source video into aligned chunks at six quality levels.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2. Replay measured network traces in a streaming environment.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3. Observe buffer and throughput history; choose a bitrate.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4. Train a PPO actor–critic policy and validate a safety guard.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5. Compare QoE, quality, switching and rebuffering.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Kuchibhotla Nischay — 23BAI1245</a:t>
            </a:r>
          </a:p>
          <a:p xmlns:a="http://schemas.openxmlformats.org/drawingml/2006/main">
            <a:pPr marL="0" indent="0">
              <a:buClr>
                <a:schemeClr val="dk1"/>
              </a:buClr>
              <a:buSzPts val="1100"/>
              <a:buNone/>
            </a:pPr>
            <a:r>
              <a:rPr b="1"/>
              <a:t>Rajdeep Bose — 23BAI1289</a:t>
            </a:r>
          </a:p>
        </p:txBody>
      </p:sp>
    </p:spTree>
    <p:extLst>
      <p:ext uri="{BB962C8B-B14F-4D97-AF65-F5344CB8AC3E}">
        <p14:creationId xmlns:p14="http://schemas.microsoft.com/office/powerpoint/2010/main" val="1229360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4" y="445025"/>
            <a:ext cx="7249676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and Objective</a:t>
            </a:r>
            <a:endParaRPr/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E1C0976E-BF76-6A61-0959-DB5C44E3F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340" y="1109116"/>
            <a:ext cx="7449443" cy="35893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1. A video is divided into ordered, four-second chunks.</a:t>
            </a:r>
          </a:p>
          <a:p xmlns:a="http://schemas.openxmlformats.org/drawingml/2006/main">
            <a:r>
              <a:rPr sz="1400" b="1"/>
              <a:t>2. Each chunk has six pre-encoded representations from 300 to 4,300 kbps.</a:t>
            </a:r>
          </a:p>
          <a:p xmlns:a="http://schemas.openxmlformats.org/drawingml/2006/main">
            <a:r>
              <a:rPr sz="1400" b="1"/>
              <a:t>3. The client downloads one representation at a time over changing throughput.</a:t>
            </a:r>
          </a:p>
          <a:p xmlns:a="http://schemas.openxmlformats.org/drawingml/2006/main">
            <a:r>
              <a:rPr sz="1400" b="1"/>
              <a:t>4. A bitrate choice affects download delay, playback buffer and future choices.</a:t>
            </a:r>
          </a:p>
          <a:p xmlns:a="http://schemas.openxmlformats.org/drawingml/2006/main">
            <a:r>
              <a:rPr sz="1400" b="1"/>
              <a:t>5. Goal: maximize session QoE while balancing quality, stalls and quality changes.</a:t>
            </a:r>
          </a:p>
        </p:txBody>
      </p:sp>
    </p:spTree>
    <p:extLst>
      <p:ext uri="{BB962C8B-B14F-4D97-AF65-F5344CB8AC3E}">
        <p14:creationId xmlns:p14="http://schemas.microsoft.com/office/powerpoint/2010/main" val="188088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4" y="445025"/>
            <a:ext cx="7249676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Streaming as a Reinforcement Learning Problem</a:t>
            </a:r>
            <a:endParaRPr/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E1C0976E-BF76-6A61-0959-DB5C44E3F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340" y="1109116"/>
            <a:ext cx="7449443" cy="35893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1. The environment supplies the current observation before each chunk request.</a:t>
            </a:r>
          </a:p>
          <a:p xmlns:a="http://schemas.openxmlformats.org/drawingml/2006/main">
            <a:r>
              <a:rPr sz="1400" b="1"/>
              <a:t>2. The observation has 25 values: buffer, recent throughput and download times, next chunk sizes, previous action and progress.</a:t>
            </a:r>
          </a:p>
          <a:p xmlns:a="http://schemas.openxmlformats.org/drawingml/2006/main">
            <a:r>
              <a:rPr sz="1400" b="1"/>
              <a:t>3. The agent selects one of six bitrate actions; it does not select pixels or encode video at runtime.</a:t>
            </a:r>
          </a:p>
          <a:p xmlns:a="http://schemas.openxmlformats.org/drawingml/2006/main">
            <a:r>
              <a:rPr sz="1400" b="1"/>
              <a:t>4. The simulator downloads the chosen chunk using the next trace throughput sample.</a:t>
            </a:r>
          </a:p>
          <a:p xmlns:a="http://schemas.openxmlformats.org/drawingml/2006/main">
            <a:r>
              <a:rPr sz="1400" b="1"/>
              <a:t>5. The environment returns reward and the next observation; this repeats until the video ends.</a:t>
            </a:r>
          </a:p>
        </p:txBody>
      </p:sp>
    </p:spTree>
    <p:extLst>
      <p:ext uri="{BB962C8B-B14F-4D97-AF65-F5344CB8AC3E}">
        <p14:creationId xmlns:p14="http://schemas.microsoft.com/office/powerpoint/2010/main" val="1880881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4" y="445025"/>
            <a:ext cx="7249676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Training the PPO Agent</a:t>
            </a:r>
            <a:endParaRPr/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E1C0976E-BF76-6A61-0959-DB5C44E3F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340" y="1109116"/>
            <a:ext cx="4200000" cy="37343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1300" b="1"/>
              <a:t>1. A conservative teacher labels bitrate choices in simulated FCC sessions.</a:t>
            </a:r>
          </a:p>
          <a:p xmlns:a="http://schemas.openxmlformats.org/drawingml/2006/main">
            <a:r>
              <a:rPr sz="1300" b="1"/>
              <a:t>2. Behavior cloning gives the policy a supervised warm start.</a:t>
            </a:r>
          </a:p>
          <a:p xmlns:a="http://schemas.openxmlformats.org/drawingml/2006/main">
            <a:r>
              <a:rPr sz="1300" b="1"/>
              <a:t>3. PPO then gathers on-policy rollouts and updates the policy with a clipped objective.</a:t>
            </a:r>
          </a:p>
          <a:p xmlns:a="http://schemas.openxmlformats.org/drawingml/2006/main">
            <a:r>
              <a:rPr sz="1300" b="1"/>
              <a:t>4. The actor outputs probabilities for six bitrates; the critic estimates state value to form advantages.</a:t>
            </a:r>
          </a:p>
          <a:p xmlns:a="http://schemas.openxmlformats.org/drawingml/2006/main">
            <a:r>
              <a:rPr sz="1300" b="1"/>
              <a:t>5. Training uses 47 FCC traces; 12 held-out FCC traces select the checkpoint and guard settings.</a:t>
            </a:r>
          </a:p>
        </p:txBody>
      </p:sp>
    </p:spTree>
    <p:extLst>
      <p:ext uri="{BB962C8B-B14F-4D97-AF65-F5344CB8AC3E}">
        <p14:creationId xmlns:p14="http://schemas.microsoft.com/office/powerpoint/2010/main" val="1880881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7C2DCF-6C63-41D2-006D-F76CF08FD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and Video Preparation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363CCE-2128-45E9-AF0A-88A6359335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50" y="1258056"/>
            <a:ext cx="7717500" cy="329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/>
              <a:t>1. Training traces: 59 FCC-derived throughput files; split into 47 train and 12 validation traces.</a:t>
            </a:r>
          </a:p>
          <a:p xmlns:a="http://schemas.openxmlformats.org/drawingml/2006/main">
            <a:pPr>
              <a:buNone/>
            </a:pPr>
            <a:r>
              <a:rPr b="1"/>
              <a:t>2. Generalization test: 142 Norway HSDPA mobile traces; Belgium LTE is not included.</a:t>
            </a:r>
          </a:p>
          <a:p xmlns:a="http://schemas.openxmlformats.org/drawingml/2006/main">
            <a:pPr>
              <a:buNone/>
            </a:pPr>
            <a:r>
              <a:rPr b="1"/>
              <a:t>3. The simulator uses six chunk-size tables (video_size_0–5) for sequential bitrate decisions.</a:t>
            </a:r>
          </a:p>
          <a:p xmlns:a="http://schemas.openxmlformats.org/drawingml/2006/main">
            <a:pPr>
              <a:buNone/>
            </a:pPr>
            <a:r>
              <a:rPr b="1"/>
              <a:t>4. The live demo separately encodes an uploaded video into aligned H.264 segments at six target bitrates.</a:t>
            </a:r>
          </a:p>
          <a:p xmlns:a="http://schemas.openxmlformats.org/drawingml/2006/main">
            <a:pPr>
              <a:buNone/>
            </a:pPr>
            <a:r>
              <a:rPr b="1"/>
              <a:t>5. Each demo policy replays the same trace and requests the corresponding segment for each chunk.</a:t>
            </a:r>
          </a:p>
        </p:txBody>
      </p:sp>
    </p:spTree>
    <p:extLst>
      <p:ext uri="{BB962C8B-B14F-4D97-AF65-F5344CB8AC3E}">
        <p14:creationId xmlns:p14="http://schemas.microsoft.com/office/powerpoint/2010/main" val="2247802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4" y="445025"/>
            <a:ext cx="7249676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Chunk: State, Action and Reward</a:t>
            </a:r>
            <a:endParaRPr/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E1C0976E-BF76-6A61-0959-DB5C44E3F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340" y="1109116"/>
            <a:ext cx="7449443" cy="35893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1. Example state: buffer = 2.0 s, previous bitrate = 750 kbps; recent throughput is weak.</a:t>
            </a:r>
          </a:p>
          <a:p xmlns:a="http://schemas.openxmlformats.org/drawingml/2006/main">
            <a:r>
              <a:rPr sz="1400" b="1"/>
              <a:t>2. Candidate action: request the 300 kbps representation for the next 4 s chunk.</a:t>
            </a:r>
          </a:p>
          <a:p xmlns:a="http://schemas.openxmlformats.org/drawingml/2006/main">
            <a:r>
              <a:rPr sz="1400" b="1"/>
              <a:t>3. Its encoded size determines download time: size in bits ÷ trace throughput in bits/s.</a:t>
            </a:r>
          </a:p>
          <a:p xmlns:a="http://schemas.openxmlformats.org/drawingml/2006/main">
            <a:r>
              <a:rPr sz="1400" b="1"/>
              <a:t>4. If size is 180,000 bytes and throughput is 600 kbps, download time = 2.4 s; rebuffer = max(2.4 − 2.0, 0) = 0.4 s.</a:t>
            </a:r>
          </a:p>
          <a:p xmlns:a="http://schemas.openxmlformats.org/drawingml/2006/main">
            <a:r>
              <a:rPr sz="1400" b="1"/>
              <a:t>5. Reward = ln(300/300) − 2.66×0.4 − |ln(300/750)| = −1.956 (approx.).</a:t>
            </a:r>
          </a:p>
        </p:txBody>
      </p:sp>
    </p:spTree>
    <p:extLst>
      <p:ext uri="{BB962C8B-B14F-4D97-AF65-F5344CB8AC3E}">
        <p14:creationId xmlns:p14="http://schemas.microsoft.com/office/powerpoint/2010/main" val="188088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4" y="445025"/>
            <a:ext cx="7249676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Evaluation and Live Comparison Workflow</a:t>
            </a:r>
            <a:endParaRPr/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E1C0976E-BF76-6A61-0959-DB5C44E3F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340" y="1109116"/>
            <a:ext cx="4450000" cy="37343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1300" b="1"/>
              <a:t>1. Upload a source video; FFmpeg creates six aligned H.264 segment ladders for playback comparison.</a:t>
            </a:r>
          </a:p>
          <a:p xmlns:a="http://schemas.openxmlformats.org/drawingml/2006/main">
            <a:r>
              <a:rPr sz="1300" b="1"/>
              <a:t>2. Upload a throughput trace in kbps; each value drives the next segment download.</a:t>
            </a:r>
          </a:p>
          <a:p xmlns:a="http://schemas.openxmlformats.org/drawingml/2006/main">
            <a:r>
              <a:rPr sz="1300" b="1"/>
              <a:t>3. Baseline uses the project’s rate-based heuristic; optimized side uses PPO plus a download-deadline safety guard.</a:t>
            </a:r>
          </a:p>
          <a:p xmlns:a="http://schemas.openxmlformats.org/drawingml/2006/main">
            <a:r>
              <a:rPr sz="1300" b="1"/>
              <a:t>4. Both policies run independently on the same trace and video; a stall in one does not pause the other.</a:t>
            </a:r>
          </a:p>
          <a:p xmlns:a="http://schemas.openxmlformats.org/drawingml/2006/main">
            <a:r>
              <a:rPr sz="1300" b="1"/>
              <a:t>5. Watch quality, buffer, spinner, rebuffer time, QoE and bitrate decisions update chunk by chunk.</a:t>
            </a:r>
          </a:p>
        </p:txBody>
      </p:sp>
    </p:spTree>
    <p:extLst>
      <p:ext uri="{BB962C8B-B14F-4D97-AF65-F5344CB8AC3E}">
        <p14:creationId xmlns:p14="http://schemas.microsoft.com/office/powerpoint/2010/main" val="1880881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CDB58-B96D-6547-AA1C-92E07D9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and What They Show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1C58D8-69E9-E1DE-4DAD-0EDDD4DE2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50" y="1265491"/>
            <a:ext cx="7717500" cy="329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/>
              <a:t>1. FCC training evaluation (10 episodes): PPO mean QoE 26.56 vs rate-based 20.46; rebuffer 4.79 s vs 4.13 s.</a:t>
            </a:r>
          </a:p>
          <a:p xmlns:a="http://schemas.openxmlformats.org/drawingml/2006/main">
            <a:pPr>
              <a:buNone/>
            </a:pPr>
            <a:r>
              <a:rPr b="1"/>
              <a:t>2. Norway test evaluation (10 episodes): PPO QoE 62.37 vs rate-based 51.76; bitrate 1,909 vs 1,390 kbps.</a:t>
            </a:r>
          </a:p>
          <a:p xmlns:a="http://schemas.openxmlformats.org/drawingml/2006/main">
            <a:pPr>
              <a:buNone/>
            </a:pPr>
            <a:r>
              <a:rPr b="1"/>
              <a:t>3. Norway PPO rebuffer was 4.83 s vs 3.57 s for rate-based, so higher mean QoE did not mean fewer stalls.</a:t>
            </a:r>
          </a:p>
          <a:p xmlns:a="http://schemas.openxmlformats.org/drawingml/2006/main">
            <a:pPr>
              <a:buNone/>
            </a:pPr>
            <a:r>
              <a:rPr b="1"/>
              <a:t>4. On 12 held-out FCC traces, the guard raised PPO QoE 28.54→31.23 and lowered rebuffer 4.02→2.35 s.</a:t>
            </a:r>
          </a:p>
          <a:p xmlns:a="http://schemas.openxmlformats.org/drawingml/2006/main">
            <a:pPr>
              <a:buNone/>
            </a:pPr>
            <a:r>
              <a:rPr b="1"/>
              <a:t>5. These are simulator results on finite trace samples; the demo is not a production streaming service or proof of universal superiority.</a:t>
            </a:r>
          </a:p>
        </p:txBody>
      </p:sp>
    </p:spTree>
    <p:extLst>
      <p:ext uri="{BB962C8B-B14F-4D97-AF65-F5344CB8AC3E}">
        <p14:creationId xmlns:p14="http://schemas.microsoft.com/office/powerpoint/2010/main" val="1097292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111C86-8436-DA58-CD29-A41092E42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Upload to Playback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E862D9-26FA-F6B7-0E9A-A1C6B2EC6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b="1"/>
              <a:t>1. Select an MP4/WebM source video and a throughput trace.</a:t>
            </a:r>
          </a:p>
          <a:p xmlns:a="http://schemas.openxmlformats.org/drawingml/2006/main">
            <a:pPr lvl="0">
              <a:buNone/>
            </a:pPr>
            <a:r>
              <a:rPr b="1"/>
              <a:t>2. FFmpeg encodes aligned H.264 segments at six bitrate targets before playback.</a:t>
            </a:r>
          </a:p>
          <a:p xmlns:a="http://schemas.openxmlformats.org/drawingml/2006/main">
            <a:pPr lvl="0">
              <a:buNone/>
            </a:pPr>
            <a:r>
              <a:rPr b="1"/>
              <a:t>3. At each chunk, the trace drives simulated download time and the policy selects a segment.</a:t>
            </a:r>
          </a:p>
          <a:p xmlns:a="http://schemas.openxmlformats.org/drawingml/2006/main">
            <a:pPr lvl="0">
              <a:buNone/>
            </a:pPr>
            <a:r>
              <a:rPr b="1"/>
              <a:t>4. Buffer drains during playback; if it reaches zero, the player shows the buffering spinner.</a:t>
            </a:r>
          </a:p>
          <a:p xmlns:a="http://schemas.openxmlformats.org/drawingml/2006/main">
            <a:pPr lvl="0">
              <a:buNone/>
            </a:pPr>
            <a:r>
              <a:rPr b="1"/>
              <a:t>5. Compare baseline and PPO-plus-guard playback, bitrate, stalls and QoE side by side.</a:t>
            </a:r>
          </a:p>
        </p:txBody>
      </p:sp>
    </p:spTree>
    <p:extLst>
      <p:ext uri="{BB962C8B-B14F-4D97-AF65-F5344CB8AC3E}">
        <p14:creationId xmlns:p14="http://schemas.microsoft.com/office/powerpoint/2010/main" val="30292232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4" y="445025"/>
            <a:ext cx="7249676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References and Dataset Links</a:t>
            </a:r>
            <a:endParaRPr/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E1C0976E-BF76-6A61-0959-DB5C44E3F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340" y="1109116"/>
            <a:ext cx="7449443" cy="35893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1300" b="1"/>
              <a:t>1. Project trace inventory and preprocessing lineage: hongzimao/Pensieve traces — https://github.com/hongzimao/pensieve/tree/master/traces</a:t>
            </a:r>
          </a:p>
          <a:p xmlns:a="http://schemas.openxmlformats.org/drawingml/2006/main">
            <a:r>
              <a:rPr sz="1300" b="1"/>
              <a:t>2. FCC raw Measuring Broadband America, June 2016 — http://data.fcc.gov/download/measuring-broadband-america/2016/data-raw-2016-jun.tar.gz</a:t>
            </a:r>
          </a:p>
          <a:p xmlns:a="http://schemas.openxmlformats.org/drawingml/2006/main">
            <a:r>
              <a:rPr sz="1300" b="1"/>
              <a:t>3. Norway HSDPA raw mobile traces — http://home.ifi.uio.no/paalh/dataset/hsdpa-tcp-logs/</a:t>
            </a:r>
          </a:p>
          <a:p xmlns:a="http://schemas.openxmlformats.org/drawingml/2006/main">
            <a:r>
              <a:rPr sz="1300" b="1"/>
              <a:t>4. Mao, Netravali &amp; Alizadeh (2017), Pensieve, SIGCOMM — https://people.csail.mit.edu/hongzi/content/publications/Pensieve-Sigcomm17.pdf</a:t>
            </a:r>
          </a:p>
          <a:p xmlns:a="http://schemas.openxmlformats.org/drawingml/2006/main">
            <a:r>
              <a:rPr sz="1300" b="1"/>
              <a:t>5. Schulman et al. (2017), Proximal Policy Optimization Algorithms — https://arxiv.org/abs/1707.06347</a:t>
            </a:r>
          </a:p>
          <a:p xmlns:a="http://schemas.openxmlformats.org/drawingml/2006/main"/>
          <a:p xmlns:a="http://schemas.openxmlformats.org/drawingml/2006/main">
            <a:r>
              <a:rPr sz="1300" b="1"/>
              <a:t>Related work: Spiteri et al. (2016), BOLA — https://arxiv.org/abs/1601.06748. The project’s BOLA-like baseline is a simplified heuristic, not the published BOLA algorithm.</a:t>
            </a:r>
          </a:p>
        </p:txBody>
      </p:sp>
    </p:spTree>
    <p:extLst>
      <p:ext uri="{BB962C8B-B14F-4D97-AF65-F5344CB8AC3E}">
        <p14:creationId xmlns:p14="http://schemas.microsoft.com/office/powerpoint/2010/main" val="188088166"/>
      </p:ext>
    </p:extLst>
  </p:cSld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2026-10-29T04:24:48.6090000Z</dcterms:created>
  <dcterms:modified xsi:type="dcterms:W3CDTF">2026-10-29T04:24:48.6090000Z</dcterms:modified>
</coreProperties>
</file>